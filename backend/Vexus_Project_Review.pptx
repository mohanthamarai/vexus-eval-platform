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000" b="1">
                <a:solidFill>
                  <a:srgbClr val="0F172A"/>
                </a:solidFill>
                <a:latin typeface="Calibri"/>
              </a:defRPr>
            </a:pPr>
            <a:r>
              <a:t>EvalTutor – AI-Powered</a:t>
            </a:r>
            <a:br/>
            <a:r>
              <a:t>Multilingual Tutoring Evaluation</a:t>
            </a:r>
            <a:br/>
            <a:r>
              <a:t>Platform</a:t>
            </a:r>
          </a:p>
          <a:p>
            <a:pPr>
              <a:defRPr sz="1600">
                <a:solidFill>
                  <a:srgbClr val="475569"/>
                </a:solidFill>
                <a:latin typeface="Calibri"/>
              </a:defRPr>
            </a:pPr>
            <a:r>
              <a:t>B.Tech Final Year Project Presentation | Academic Year 2025–2026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3931920"/>
            <a:ext cx="3474720" cy="201168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97680" y="40965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Student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461772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Student Name: </a:t>
            </a:r>
            <a:r>
              <a:rPr b="1">
                <a:solidFill>
                  <a:srgbClr val="FFFFFF"/>
                </a:solidFill>
              </a:rPr>
              <a:t>[MOHAN T]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Register Number: </a:t>
            </a:r>
            <a:r>
              <a:rPr b="1">
                <a:solidFill>
                  <a:srgbClr val="FFFFFF"/>
                </a:solidFill>
              </a:rPr>
              <a:t>[710024243701]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• Department: </a:t>
            </a:r>
            <a:r>
              <a:rPr b="1">
                <a:solidFill>
                  <a:srgbClr val="FFFFFF"/>
                </a:solidFill>
              </a:rPr>
              <a:t>[B.tech- AI &amp; DS]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3931920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409651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Institutional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0" y="46177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College Name: </a:t>
            </a:r>
            <a:r>
              <a:rPr b="1">
                <a:solidFill>
                  <a:srgbClr val="0F172A"/>
                </a:solidFill>
              </a:rPr>
              <a:t>[ANNA UNIVERSITY REGIONAL CAMPUS]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Guide: </a:t>
            </a:r>
            <a:r>
              <a:rPr b="1">
                <a:solidFill>
                  <a:srgbClr val="0F172A"/>
                </a:solidFill>
              </a:rPr>
              <a:t>[Dr.Marikannu]</a:t>
            </a:r>
          </a:p>
          <a:p>
            <a:pPr>
              <a:spcAft>
                <a:spcPts val="600"/>
              </a:spcAft>
              <a:defRPr sz="1200">
                <a:solidFill>
                  <a:srgbClr val="475569"/>
                </a:solidFill>
                <a:latin typeface="Calibri"/>
              </a:defRPr>
            </a:pPr>
            <a:r>
              <a:t>• Academic Year: </a:t>
            </a:r>
            <a:r>
              <a:rPr b="1">
                <a:solidFill>
                  <a:srgbClr val="0F172A"/>
                </a:solidFill>
              </a:rPr>
              <a:t>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The Problem: AI Tutors Are Unmonitored &amp; Unreliable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AI tutors now serve millions of students globally — yet there is zero pedagogical oversight on the content they generate. The consequences are serious and growing.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🚀 Explosive AI Adoption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AI tutors serve millions of students globally, yet response quality remains entirely unchecked and unmonitored.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🧠 Hallucinations Are Rampant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LLMs confidently generate incorrect facts, misleading students during critical learning phases with no warning.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832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478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⚠️ Dangerous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Students copy AI answers without understanding — directly undermining conceptual learning and critical thinking.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35478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Language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69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Most AI tutors operate only in English, excluding 1.5 billion+ regional-language learners worldwide.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023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🔍 No Evaluation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There is currently zero pedagogical oversight or quality scoring on AI-generated tutoring content.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4937760"/>
            <a:ext cx="52120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51023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✅ EvalTutor Fills 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6235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 real-time evaluation platform that monitors, scores, and continuously improves AI tutoring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 is designed around five core objectives that together create a comprehensive, trustworthy AI tutoring ecosystem.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🛡️ Monitor AI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Score every AI response for pedagogical accuracy, clarity, and educational value on a 0–100 scale.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🚩 Detect Hallucinations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Flag responses with high hallucination risk before students act on potentially incorrect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3832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93392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🎯 Measure Dependency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1460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Track over-reliance on AI answers versus independent reasoning to promote genuine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976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622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Multilingual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Enable seamless tutoring in regional languages via automatic language detection and translation.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29768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4622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📈 Analytics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98348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Provide students and educators with real-time learning insights, progress metrics, and weak topic identification.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How EvalTutor Works: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A seamless 7-step pipeline transforms a student's question — in any language — into an evaluated, scored, and translated AI tutoring response delivered in real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Each step is automated and executes in milliseconds — the student experiences a seamless, real-time tutoring interaction while the evaluation engine works silently in the background to score every response.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EvalTutor's architecture is modular and layered — each component is independently scalable and communicates through a FastAPI orchestration backbone.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5212080" cy="146304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193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Core Processing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15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Langdetect: </a:t>
            </a:r>
            <a:r>
              <a:rPr b="0">
                <a:solidFill>
                  <a:srgbClr val="FFFFFF"/>
                </a:solidFill>
              </a:rPr>
              <a:t>Identifies input language in milliseconds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Googletrans: </a:t>
            </a:r>
            <a:r>
              <a:rPr b="0">
                <a:solidFill>
                  <a:srgbClr val="FFFFFF"/>
                </a:solidFill>
              </a:rPr>
              <a:t>Bridges regional languages ↔ English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FFFFFF"/>
                </a:solidFill>
              </a:rPr>
              <a:t>Groq Llama-3.3-70B: </a:t>
            </a:r>
            <a:r>
              <a:rPr b="0">
                <a:solidFill>
                  <a:srgbClr val="FFFFFF"/>
                </a:solidFill>
              </a:rPr>
              <a:t>Generates pedagogically structured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5029200"/>
            <a:ext cx="52120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51937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Evaluation &amp; Output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7150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Evaluation Engine: </a:t>
            </a:r>
            <a:r>
              <a:rPr b="0">
                <a:solidFill>
                  <a:srgbClr val="475569"/>
                </a:solidFill>
              </a:rPr>
              <a:t>Scores quality, detects hallucinations, measures dependency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Dashboard: </a:t>
            </a:r>
            <a:r>
              <a:rPr b="0">
                <a:solidFill>
                  <a:srgbClr val="475569"/>
                </a:solidFill>
              </a:rPr>
              <a:t>Chart.js-powered real-time analytics</a:t>
            </a:r>
          </a:p>
          <a:p>
            <a:pPr>
              <a:spcAft>
                <a:spcPts val="400"/>
              </a:spcAft>
              <a:defRPr sz="1100">
                <a:latin typeface="Calibri"/>
              </a:defRPr>
            </a:pPr>
            <a:r>
              <a:t>• </a:t>
            </a:r>
            <a:r>
              <a:rPr b="1">
                <a:solidFill>
                  <a:srgbClr val="0F172A"/>
                </a:solidFill>
              </a:rPr>
              <a:t>FastAPI: </a:t>
            </a:r>
            <a:r>
              <a:rPr b="0">
                <a:solidFill>
                  <a:srgbClr val="475569"/>
                </a:solidFill>
              </a:rPr>
              <a:t>Handles all routing and session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EvalTutor is built on a modern, lightweight, and high-performance technology stack — each layer chosen for speed, accuracy, and developer productivity.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3B82F6"/>
                </a:solidFill>
                <a:latin typeface="Calibri"/>
              </a:defRPr>
            </a:pPr>
            <a:r>
              <a:t>Layer                                 Technology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Frontend                 </a:t>
            </a:r>
            <a:r>
              <a:rPr>
                <a:solidFill>
                  <a:srgbClr val="475569"/>
                </a:solidFill>
              </a:rPr>
              <a:t>HTML, CSS, JavaScript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Backend                  </a:t>
            </a:r>
            <a:r>
              <a:rPr>
                <a:solidFill>
                  <a:srgbClr val="475569"/>
                </a:solidFill>
              </a:rPr>
              <a:t>FastAPI, Python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AI Model                 </a:t>
            </a:r>
            <a:r>
              <a:rPr>
                <a:solidFill>
                  <a:srgbClr val="475569"/>
                </a:solidFill>
              </a:rPr>
              <a:t>Groq Llama-3.3-70B-Versatile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Translation              </a:t>
            </a:r>
            <a:r>
              <a:rPr>
                <a:solidFill>
                  <a:srgbClr val="475569"/>
                </a:solidFill>
              </a:rPr>
              <a:t>Googletrans, Langdetect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Charts                   </a:t>
            </a:r>
            <a:r>
              <a:rPr>
                <a:solidFill>
                  <a:srgbClr val="475569"/>
                </a:solidFill>
              </a:rPr>
              <a:t>Chart.js</a:t>
            </a:r>
          </a:p>
          <a:p>
            <a:pPr>
              <a:spcAft>
                <a:spcPts val="1400"/>
              </a:spcAft>
              <a:defRPr sz="1400">
                <a:latin typeface="Calibri"/>
              </a:defRPr>
            </a:pPr>
            <a:r>
              <a:rPr b="1">
                <a:solidFill>
                  <a:srgbClr val="0F172A"/>
                </a:solidFill>
              </a:rPr>
              <a:t>Prompt Engineering       </a:t>
            </a:r>
            <a:r>
              <a:rPr>
                <a:solidFill>
                  <a:srgbClr val="475569"/>
                </a:solidFill>
              </a:rPr>
              <a:t>Structured JSON &amp; Markdown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8288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9339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⚡ Ultra-Fast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146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Groq's hardware-accelerated API delivers AI responses in milliseconds — enabling truly real-time tutoring interactions.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29184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4564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🐍 Python-First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76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FastAPI and Python provide a clean, async-ready backend that integrates seamlessly with all AI and translation modules.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75488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9194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📊 Live Visualization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440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Chart.js renders dynamic, real-time analytics charts on the student dashboard after every single interaction.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Seven tightly integrated features make EvalTutor a complete, end-to-end AI tutoring quality platform — not just a chatbot wrapper.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⚡ Live AI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Real-time tutoring powered by Groq's ultra-fast inference API with structured educational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44568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🌐 Multilingual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4568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Auto-detects and responds in the student's native language — inclusive for 1.5B+ regional learners.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82880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9339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📊 Pedagogical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74736" y="251460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Every response scored against educational quality standards on a 0–100 scale in real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🚨 Hallucination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Flags factually risky AI responses (Low / Medium / High) before they mislead students.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44568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🔗 Dependency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Monitors how often students rely on AI versus thinking independently — promoting genuine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3840480"/>
            <a:ext cx="3447288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4736" y="4005072"/>
            <a:ext cx="308152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📈 Student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4736" y="4526280"/>
            <a:ext cx="3081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Personalized view of quality scores, weak topics, and learning progress over time.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943600"/>
            <a:ext cx="10698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10819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🔄 Real-Time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629400"/>
            <a:ext cx="10332720" cy="-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Live charts and metrics updated after every single interaction using Chart.js visualizations.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Working Methodology: 10-Step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From question submission to dashboard update — EvalTutor's complete processing pipeline executes automatically in under two seconds per interaction.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01  Student Submits Question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Student types a question in any language via the chat interface.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72200" y="182880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02  Language Identification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Langdetect identifies the input language automatically.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78892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03  Query Translation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Googletrans translates the query to English for AI processing.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78892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83464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04  AI Response Generation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Groq Llama-3.3 generates a structured, pedagogically sound AI response.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49039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94759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05  Response Translation Back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Response is translated back to the student's native language.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794759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06  Evaluation Engine Analysis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Evaluation Engine analyzes response quality across multiple dimensions.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0916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07  Quality Score Calculated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Quality Score is computed on a 0–100 scale using a multi-dimensional rubric.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470916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75488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08  Hallucination Risk Flagged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Hallucination Risk is classified as Low, Medium, or High per response.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69280"/>
            <a:ext cx="5212080" cy="182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09  Dependency Level Logged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Dependency Level is measured and recorded for the session.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5669280"/>
            <a:ext cx="5212080" cy="18288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571500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10  Dashboard Updated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All metrics are pushed to the student dashboard in real time via Chart.js.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Results &amp; Dashboard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Across 10 sessions, EvalTutor demonstrates a clear and consistent improvement in AI tutoring quality — with Quality Scores rising from 62 → 91 and Hallucination Risk dropping from 38% → 8% as students engage more deeply with the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91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Peak Quality Score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Achieved by Session 10 on the 0-100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8%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Hallucination Risk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Reduced from 38% at Session 1 (79% drop).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669280"/>
            <a:ext cx="33832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580644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0F172A"/>
                </a:solidFill>
                <a:latin typeface="Calibri"/>
              </a:defRPr>
            </a:pPr>
            <a:r>
              <a:t>3</a:t>
            </a:r>
          </a:p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Evaluation Dimensions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Quality Score, Hallucination Risk, Dependency.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Challenges Faced &amp; Solutions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475569"/>
                </a:solidFill>
                <a:latin typeface="Calibri"/>
              </a:defRPr>
            </a:pPr>
            <a:r>
              <a:t>Four significant engineering challenges were encountered and resolved during development — each solution strengthening the platform's robustness and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Challenge                                                                    Solution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Groq model deprecation mid-development                           </a:t>
            </a:r>
            <a:r>
              <a:rPr b="1">
                <a:solidFill>
                  <a:srgbClr val="0F172A"/>
                </a:solidFill>
              </a:rPr>
              <a:t>Migrated to Llama-3.3-70B-Versatile — faster and more accurate than the deprecated model.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Translation accuracy for technical terms                         </a:t>
            </a:r>
            <a:r>
              <a:rPr b="1">
                <a:solidFill>
                  <a:srgbClr val="0F172A"/>
                </a:solidFill>
              </a:rPr>
              <a:t>English-first middleware layer with context-aware prompts to preserve technical terminology.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Poor AI response formatting                                      </a:t>
            </a:r>
            <a:r>
              <a:rPr b="1">
                <a:solidFill>
                  <a:srgbClr val="0F172A"/>
                </a:solidFill>
              </a:rPr>
              <a:t>Prompt engineering with structured Markdown and JSON output templates for consistent formatting.</a:t>
            </a:r>
          </a:p>
          <a:p>
            <a:pPr>
              <a:spcAft>
                <a:spcPts val="1800"/>
              </a:spcAft>
              <a:defRPr sz="1200">
                <a:latin typeface="Calibri"/>
              </a:defRPr>
            </a:pPr>
            <a:r>
              <a:rPr b="0">
                <a:solidFill>
                  <a:srgbClr val="475569"/>
                </a:solidFill>
              </a:rPr>
              <a:t>Measuring educational quality objectively                        </a:t>
            </a:r>
            <a:r>
              <a:rPr b="1">
                <a:solidFill>
                  <a:srgbClr val="0F172A"/>
                </a:solidFill>
              </a:rPr>
              <a:t>AI-based evaluation engine with a multi-dimensional scoring rubric covering accuracy, clarity, and depth.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  <a:latin typeface="Calibri"/>
              </a:defRPr>
            </a:pPr>
            <a:r>
              <a:t>💡 Each challenge encountered during development directly informed a stronger, more production-ready architecture — making EvalTutor more resilient and accurate than originally designed.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Calibri"/>
              </a:defRPr>
            </a:pPr>
            <a:r>
              <a:t>Advantages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3B82F6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Calibri"/>
              </a:defRPr>
            </a:pPr>
            <a:r>
              <a:t>✅ Current Advantages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Improves AI tutoring quality with real-time evaluation after every response.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Detects and flags hallucinations before they mislead students.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Encourages conceptual learning over answer copying.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Reduces unhealthy student dependency on AI.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Supports regional languages — inclusive for all learners.</a:t>
            </a:r>
          </a:p>
          <a:p>
            <a:pPr>
              <a:spcAft>
                <a:spcPts val="1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 Provides actionable learning analytics for educators.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2763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🚀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Voice-Based Tutoring — </a:t>
            </a:r>
            <a:r>
              <a:rPr b="0">
                <a:solidFill>
                  <a:srgbClr val="475569"/>
                </a:solidFill>
              </a:rPr>
              <a:t>Speech-to-text integration for hands-free learning.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OCR Support — </a:t>
            </a:r>
            <a:r>
              <a:rPr b="0">
                <a:solidFill>
                  <a:srgbClr val="475569"/>
                </a:solidFill>
              </a:rPr>
              <a:t>Handwritten question input via optical character recognition.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Mobile Application — </a:t>
            </a:r>
            <a:r>
              <a:rPr b="0">
                <a:solidFill>
                  <a:srgbClr val="475569"/>
                </a:solidFill>
              </a:rPr>
              <a:t>Native iOS &amp; Android apps for on-the-go learning.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LMS Integration — </a:t>
            </a:r>
            <a:r>
              <a:rPr b="0">
                <a:solidFill>
                  <a:srgbClr val="475569"/>
                </a:solidFill>
              </a:rPr>
              <a:t>Moodle and Google Classroom compatibility.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Personalized AI Paths — </a:t>
            </a:r>
            <a:r>
              <a:rPr b="0">
                <a:solidFill>
                  <a:srgbClr val="475569"/>
                </a:solidFill>
              </a:rPr>
              <a:t>Adaptive learning journeys per student profile.</a:t>
            </a:r>
          </a:p>
          <a:p>
            <a:pPr>
              <a:spcAft>
                <a:spcPts val="1400"/>
              </a:spcAft>
              <a:defRPr sz="1200">
                <a:latin typeface="Calibri"/>
              </a:defRPr>
            </a:pPr>
            <a:r>
              <a:t>→ </a:t>
            </a:r>
            <a:r>
              <a:rPr b="1">
                <a:solidFill>
                  <a:srgbClr val="0F172A"/>
                </a:solidFill>
              </a:rPr>
              <a:t>Offline Multilingual Models — </a:t>
            </a:r>
            <a:r>
              <a:rPr b="0">
                <a:solidFill>
                  <a:srgbClr val="475569"/>
                </a:solidFill>
              </a:rPr>
              <a:t>Low-connectivity region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